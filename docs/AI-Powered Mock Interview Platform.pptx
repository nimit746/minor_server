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998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E9407-6AB0-3608-6451-F6509E4D0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1A366A-EB44-4909-3308-2BDFE4EAD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C84D65-3B4B-6038-2F21-EE564E556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45CBD-D358-DC44-F743-B7B53F934C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448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72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11.png"/><Relationship Id="rId9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amp.com/" TargetMode="External"/><Relationship Id="rId3" Type="http://schemas.openxmlformats.org/officeDocument/2006/relationships/hyperlink" Target="https://www.jetir.org/papers/JETIRHQ06113.pdf" TargetMode="External"/><Relationship Id="rId7" Type="http://schemas.openxmlformats.org/officeDocument/2006/relationships/hyperlink" Target="https://interviewing.io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hackerrank.com/" TargetMode="External"/><Relationship Id="rId5" Type="http://schemas.openxmlformats.org/officeDocument/2006/relationships/hyperlink" Target="https://leetcode.com/" TargetMode="External"/><Relationship Id="rId4" Type="http://schemas.openxmlformats.org/officeDocument/2006/relationships/hyperlink" Target="https://www.ijert.org/intelligent-interview-preparation-and-resume-screening-platform-using-machine-learning-for-student-career-advancement-ijertv15is020096" TargetMode="External"/><Relationship Id="rId9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2212" y="325959"/>
            <a:ext cx="9807575" cy="574885"/>
          </a:xfrm>
        </p:spPr>
        <p:txBody>
          <a:bodyPr>
            <a:noAutofit/>
          </a:bodyPr>
          <a:lstStyle/>
          <a:p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NEXORA – AI POWERED MOCK INTERVIEW PLATFORM</a:t>
            </a: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-162693" y="3424971"/>
            <a:ext cx="4080510" cy="16732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 :-</a:t>
            </a:r>
          </a:p>
          <a:p>
            <a:r>
              <a:rPr lang="en-US" altLang="en-US" sz="2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Nimit Gupta (10323210072)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Lovleen (10323210118)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Hirendra (1032321011)</a:t>
            </a:r>
          </a:p>
          <a:p>
            <a:br>
              <a:rPr lang="en-US" altLang="en-US" sz="222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180580" y="3424972"/>
            <a:ext cx="4277995" cy="15869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Preeti </a:t>
            </a:r>
          </a:p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1192212" y="1276709"/>
            <a:ext cx="9807575" cy="3805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Department of Computer Science &amp; Engineering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/>
          <p:cNvSpPr>
            <a:spLocks noGrp="1"/>
          </p:cNvSpPr>
          <p:nvPr/>
        </p:nvSpPr>
        <p:spPr>
          <a:xfrm>
            <a:off x="1192211" y="5789316"/>
            <a:ext cx="9807575" cy="657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Academic Year 2026-27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63ACCD-F3D7-8B93-9606-F1BA03404C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943" y="1926942"/>
            <a:ext cx="2953637" cy="11093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B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PROBLEM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D2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Generic prep doesn't prepare you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D2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for a specific interview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2542032" cy="320040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651760"/>
            <a:ext cx="566928" cy="566928"/>
          </a:xfrm>
          <a:prstGeom prst="ellipse">
            <a:avLst/>
          </a:prstGeom>
          <a:solidFill>
            <a:srgbClr val="EEF0E4"/>
          </a:solidFill>
          <a:ln/>
        </p:spPr>
      </p:sp>
      <p:pic>
        <p:nvPicPr>
          <p:cNvPr id="6" name="Image 0" descr="/home/claude/deck/icon_layers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938" y="2731130"/>
            <a:ext cx="408188" cy="4081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342900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One-size-fits-all questions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78992" y="402336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Static question banks ignore the candidate's actual skills, resume, or target role.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21024" y="2331720"/>
            <a:ext cx="2542032" cy="320040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913632" y="2651760"/>
            <a:ext cx="566928" cy="566928"/>
          </a:xfrm>
          <a:prstGeom prst="ellipse">
            <a:avLst/>
          </a:prstGeom>
          <a:solidFill>
            <a:srgbClr val="EEF0E4"/>
          </a:solidFill>
          <a:ln/>
        </p:spPr>
      </p:sp>
      <p:pic>
        <p:nvPicPr>
          <p:cNvPr id="11" name="Image 1" descr="/home/claude/deck/icon_trend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002" y="2731130"/>
            <a:ext cx="408188" cy="4081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77056" y="342900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adaptive difficulty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877056" y="402336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candidate gets the same difficulty curve, regardless of how they're performing.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419088" y="2331720"/>
            <a:ext cx="2542032" cy="320040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711696" y="2651760"/>
            <a:ext cx="566928" cy="566928"/>
          </a:xfrm>
          <a:prstGeom prst="ellipse">
            <a:avLst/>
          </a:prstGeom>
          <a:solidFill>
            <a:srgbClr val="EEF0E4"/>
          </a:solidFill>
          <a:ln/>
        </p:spPr>
      </p:sp>
      <p:pic>
        <p:nvPicPr>
          <p:cNvPr id="16" name="Image 2" descr="/home/claude/deck/icon_help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066" y="2731130"/>
            <a:ext cx="408188" cy="4081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342900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Shallow feedback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675120" y="402336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Candidates learn that they failed, but not why — no diagnostic signal to act 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9217152" y="2331720"/>
            <a:ext cx="2542032" cy="320040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09760" y="2651760"/>
            <a:ext cx="566928" cy="566928"/>
          </a:xfrm>
          <a:prstGeom prst="ellipse">
            <a:avLst/>
          </a:prstGeom>
          <a:solidFill>
            <a:srgbClr val="EEF0E4"/>
          </a:solidFill>
          <a:ln/>
        </p:spPr>
      </p:sp>
      <p:pic>
        <p:nvPicPr>
          <p:cNvPr id="21" name="Image 3" descr="/home/claude/deck/icon_map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9130" y="2731130"/>
            <a:ext cx="408188" cy="4081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73184" y="342900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path to improve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9473184" y="402336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Without a plan tied to actual weaknesses, practice doesn't turn into progress.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97F23C9-24C3-95D2-A0B3-7BBD839BE33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4909" y="118871"/>
            <a:ext cx="1509451" cy="5669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B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OUR SOLUTION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5F5F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 personalized, closed-loop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5F5F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interview preparation pipeline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2C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stage of the platform adapts to the individual candidate — from resume to roadmap.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3108960"/>
            <a:ext cx="2331720" cy="2286000"/>
          </a:xfrm>
          <a:prstGeom prst="roundRect">
            <a:avLst>
              <a:gd name="adj" fmla="val 4800"/>
            </a:avLst>
          </a:prstGeom>
          <a:solidFill>
            <a:srgbClr val="1D2030"/>
          </a:solidFill>
          <a:ln/>
        </p:spPr>
      </p:sp>
      <p:sp>
        <p:nvSpPr>
          <p:cNvPr id="6" name="Shape 4"/>
          <p:cNvSpPr/>
          <p:nvPr/>
        </p:nvSpPr>
        <p:spPr>
          <a:xfrm>
            <a:off x="1623060" y="3520440"/>
            <a:ext cx="731520" cy="73152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7" name="Image 0" descr="/home/claude/deck/icon_filetex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473" y="3622853"/>
            <a:ext cx="526694" cy="526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448056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5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Parse Resume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154680" y="388620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6FF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→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657600" y="3108960"/>
            <a:ext cx="2331720" cy="2286000"/>
          </a:xfrm>
          <a:prstGeom prst="roundRect">
            <a:avLst>
              <a:gd name="adj" fmla="val 4800"/>
            </a:avLst>
          </a:prstGeom>
          <a:solidFill>
            <a:srgbClr val="1D2030"/>
          </a:solidFill>
          <a:ln/>
        </p:spPr>
      </p:sp>
      <p:sp>
        <p:nvSpPr>
          <p:cNvPr id="11" name="Shape 8"/>
          <p:cNvSpPr/>
          <p:nvPr/>
        </p:nvSpPr>
        <p:spPr>
          <a:xfrm>
            <a:off x="4457700" y="3520440"/>
            <a:ext cx="731520" cy="73152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12" name="Image 1" descr="/home/claude/deck/icon_cp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113" y="3622853"/>
            <a:ext cx="526694" cy="5266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4760" y="448056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5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Generate Questions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989320" y="388620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6FF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→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492240" y="3108960"/>
            <a:ext cx="2331720" cy="2286000"/>
          </a:xfrm>
          <a:prstGeom prst="roundRect">
            <a:avLst>
              <a:gd name="adj" fmla="val 4800"/>
            </a:avLst>
          </a:prstGeom>
          <a:solidFill>
            <a:srgbClr val="1D2030"/>
          </a:solidFill>
          <a:ln/>
        </p:spPr>
      </p:sp>
      <p:sp>
        <p:nvSpPr>
          <p:cNvPr id="16" name="Shape 12"/>
          <p:cNvSpPr/>
          <p:nvPr/>
        </p:nvSpPr>
        <p:spPr>
          <a:xfrm>
            <a:off x="7292340" y="3520440"/>
            <a:ext cx="731520" cy="73152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17" name="Image 2" descr="/home/claude/deck/icon_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4753" y="3622853"/>
            <a:ext cx="526694" cy="5266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9400" y="448056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5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Evaluate Answers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823960" y="388620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6FF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→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9326880" y="3108960"/>
            <a:ext cx="2331720" cy="2286000"/>
          </a:xfrm>
          <a:prstGeom prst="roundRect">
            <a:avLst>
              <a:gd name="adj" fmla="val 4800"/>
            </a:avLst>
          </a:prstGeom>
          <a:solidFill>
            <a:srgbClr val="1D2030"/>
          </a:solidFill>
          <a:ln/>
        </p:spPr>
      </p:sp>
      <p:sp>
        <p:nvSpPr>
          <p:cNvPr id="21" name="Shape 16"/>
          <p:cNvSpPr/>
          <p:nvPr/>
        </p:nvSpPr>
        <p:spPr>
          <a:xfrm>
            <a:off x="10126980" y="3520440"/>
            <a:ext cx="731520" cy="73152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22" name="Image 3" descr="/home/claude/deck/icon_ma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9393" y="3622853"/>
            <a:ext cx="526694" cy="52669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64040" y="448056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5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Roadmap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22960" y="5760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6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result: no two candidates ever get the same interview.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65EF231-8E21-28B9-30C6-82159BFBA6F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817" y="170105"/>
            <a:ext cx="1190446" cy="447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B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FEATURES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D2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the platform delivers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101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121408"/>
            <a:ext cx="457200" cy="457200"/>
          </a:xfrm>
          <a:prstGeom prst="ellipse">
            <a:avLst/>
          </a:prstGeom>
          <a:solidFill>
            <a:srgbClr val="EEF0E4"/>
          </a:solidFill>
          <a:ln/>
        </p:spPr>
      </p:sp>
      <p:pic>
        <p:nvPicPr>
          <p:cNvPr id="6" name="Image 0" descr="/home/claude/deck/icon_filetext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18541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84832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Resume-based profiling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24128" y="2788920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Structured candidate profile from PDF/DOCX resumes.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61688" y="1920240"/>
            <a:ext cx="33101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62856" y="2121408"/>
            <a:ext cx="457200" cy="457200"/>
          </a:xfrm>
          <a:prstGeom prst="ellipse">
            <a:avLst/>
          </a:prstGeom>
          <a:solidFill>
            <a:srgbClr val="EEF0E4"/>
          </a:solidFill>
          <a:ln/>
        </p:spPr>
      </p:sp>
      <p:pic>
        <p:nvPicPr>
          <p:cNvPr id="11" name="Image 1" descr="/home/claude/deck/icon_cpu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218541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38928" y="2084832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Skill-aware questions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562856" y="2788920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Questions generated dynamically around the candidate's actual skillset.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900416" y="1920240"/>
            <a:ext cx="33101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01584" y="2121408"/>
            <a:ext cx="457200" cy="457200"/>
          </a:xfrm>
          <a:prstGeom prst="ellipse">
            <a:avLst/>
          </a:prstGeom>
          <a:solidFill>
            <a:srgbClr val="EEF0E4"/>
          </a:solidFill>
          <a:ln/>
        </p:spPr>
      </p:sp>
      <p:pic>
        <p:nvPicPr>
          <p:cNvPr id="16" name="Image 2" descr="/home/claude/deck/icon_trend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592" y="218541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77656" y="2084832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Adaptive difficulty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101584" y="2788920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Scales up or down in real time based on live performance.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822960" y="3959352"/>
            <a:ext cx="33101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24128" y="4160520"/>
            <a:ext cx="457200" cy="457200"/>
          </a:xfrm>
          <a:prstGeom prst="ellipse">
            <a:avLst/>
          </a:prstGeom>
          <a:solidFill>
            <a:srgbClr val="EEF0E4"/>
          </a:solidFill>
          <a:ln/>
        </p:spPr>
      </p:sp>
      <p:pic>
        <p:nvPicPr>
          <p:cNvPr id="21" name="Image 3" descr="/home/claude/deck/icon_chart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422452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123944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Detailed evaluation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1024128" y="4828032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Quantified metrics, not just a pass/fail verdict.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4361688" y="3959352"/>
            <a:ext cx="33101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62856" y="4160520"/>
            <a:ext cx="457200" cy="457200"/>
          </a:xfrm>
          <a:prstGeom prst="ellipse">
            <a:avLst/>
          </a:prstGeom>
          <a:solidFill>
            <a:srgbClr val="EEF0E4"/>
          </a:solidFill>
          <a:ln/>
        </p:spPr>
      </p:sp>
      <p:pic>
        <p:nvPicPr>
          <p:cNvPr id="26" name="Image 4" descr="/home/claude/deck/icon_map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864" y="422452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38928" y="4123944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Personalized roadmap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4562856" y="4828032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Study plan generated directly from identified weak areas.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7900416" y="3959352"/>
            <a:ext cx="33101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01584" y="4160520"/>
            <a:ext cx="457200" cy="457200"/>
          </a:xfrm>
          <a:prstGeom prst="ellipse">
            <a:avLst/>
          </a:prstGeom>
          <a:solidFill>
            <a:srgbClr val="EEF0E4"/>
          </a:solidFill>
          <a:ln/>
        </p:spPr>
      </p:sp>
      <p:pic>
        <p:nvPicPr>
          <p:cNvPr id="31" name="Image 5" descr="/home/claude/deck/icon_search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5592" y="422452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77656" y="4123944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research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8101584" y="4828032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Dedicated agent for company and topic-specific context.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BDCEEEF-1CBA-8DFA-EADD-DD25D1F08EA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817" y="170105"/>
            <a:ext cx="1190446" cy="447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B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ARCHITECTURE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5F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 modular, cloud-native backend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7240" y="2038198"/>
            <a:ext cx="7772400" cy="1188720"/>
          </a:xfrm>
          <a:prstGeom prst="roundRect">
            <a:avLst>
              <a:gd name="adj" fmla="val 7692"/>
            </a:avLst>
          </a:prstGeom>
          <a:solidFill>
            <a:srgbClr val="1D2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331720"/>
            <a:ext cx="640080" cy="64008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6" name="Image 0" descr="/home/claude/deck/icon_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891" y="242133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240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5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API Layer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965960" y="267919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FastAPI · Routers · Schemas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22960" y="3502152"/>
            <a:ext cx="7772400" cy="1188720"/>
          </a:xfrm>
          <a:prstGeom prst="roundRect">
            <a:avLst>
              <a:gd name="adj" fmla="val 7692"/>
            </a:avLst>
          </a:prstGeom>
          <a:solidFill>
            <a:srgbClr val="1D2030"/>
          </a:solidFill>
          <a:ln/>
        </p:spPr>
      </p:sp>
      <p:sp>
        <p:nvSpPr>
          <p:cNvPr id="10" name="Shape 7"/>
          <p:cNvSpPr/>
          <p:nvPr/>
        </p:nvSpPr>
        <p:spPr>
          <a:xfrm>
            <a:off x="1097280" y="3776472"/>
            <a:ext cx="640080" cy="64008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11" name="Image 1" descr="/home/claude/deck/icon_cp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891" y="3866083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36850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5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Orchestration Layer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965960" y="412394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Agentic Workflows (LangGraph)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22960" y="4946904"/>
            <a:ext cx="7772400" cy="1188720"/>
          </a:xfrm>
          <a:prstGeom prst="roundRect">
            <a:avLst>
              <a:gd name="adj" fmla="val 7692"/>
            </a:avLst>
          </a:prstGeom>
          <a:solidFill>
            <a:srgbClr val="1D2030"/>
          </a:solidFill>
          <a:ln/>
        </p:spPr>
      </p:sp>
      <p:sp>
        <p:nvSpPr>
          <p:cNvPr id="15" name="Shape 11"/>
          <p:cNvSpPr/>
          <p:nvPr/>
        </p:nvSpPr>
        <p:spPr>
          <a:xfrm>
            <a:off x="1097280" y="5221224"/>
            <a:ext cx="640080" cy="64008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16" name="Image 2" descr="/home/claude/deck/icon_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891" y="5310835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512978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5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&amp; Storage Layer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965960" y="556869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 · S3 / Cloudinary / R2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8915400" y="2057400"/>
            <a:ext cx="2423160" cy="4078224"/>
          </a:xfrm>
          <a:prstGeom prst="roundRect">
            <a:avLst>
              <a:gd name="adj" fmla="val 3774"/>
            </a:avLst>
          </a:prstGeom>
          <a:solidFill>
            <a:srgbClr val="C6FF00">
              <a:alpha val="10000"/>
            </a:srgbClr>
          </a:solidFill>
          <a:ln w="12700">
            <a:solidFill>
              <a:srgbClr val="C6FF0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144000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6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WITH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9144000" y="2606040"/>
            <a:ext cx="19659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5F5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Python
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0B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Structured as routers, models,
schemas &amp; core config
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0B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Session &amp; interview state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0B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persisted in a database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3A108B3-E829-F4A8-CF3B-89F7B0FD8CF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817" y="170105"/>
            <a:ext cx="1190446" cy="447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B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AI ENGINE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D2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Agentic Workflows: five specialized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D2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agents, one coordinated pipeline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993392" cy="32004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4963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8D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60704" y="3017520"/>
            <a:ext cx="502920" cy="502920"/>
          </a:xfrm>
          <a:prstGeom prst="ellipse">
            <a:avLst/>
          </a:prstGeom>
          <a:solidFill>
            <a:srgbClr val="EEF0E4"/>
          </a:solidFill>
          <a:ln/>
        </p:spPr>
      </p:sp>
      <p:pic>
        <p:nvPicPr>
          <p:cNvPr id="7" name="Image 0" descr="/home/claude/deck/icon_filetext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113" y="3087929"/>
            <a:ext cx="362102" cy="3621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3749040"/>
            <a:ext cx="1664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Resume Parse Agent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87552" y="4617720"/>
            <a:ext cx="1664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Builds the candidate profile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980944" y="2331720"/>
            <a:ext cx="1993392" cy="32004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145536" y="24963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8D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18688" y="3017520"/>
            <a:ext cx="502920" cy="502920"/>
          </a:xfrm>
          <a:prstGeom prst="ellipse">
            <a:avLst/>
          </a:prstGeom>
          <a:solidFill>
            <a:srgbClr val="EEF0E4"/>
          </a:solidFill>
          <a:ln/>
        </p:spPr>
      </p:sp>
      <p:pic>
        <p:nvPicPr>
          <p:cNvPr id="13" name="Image 1" descr="/home/claude/deck/icon_cpu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097" y="3087929"/>
            <a:ext cx="362102" cy="3621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45536" y="3749040"/>
            <a:ext cx="1664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Question Generation Agent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145536" y="4617720"/>
            <a:ext cx="1664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Creates &amp; escalates difficulty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138928" y="2331720"/>
            <a:ext cx="1993392" cy="32004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303520" y="24963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8D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376672" y="3017520"/>
            <a:ext cx="502920" cy="502920"/>
          </a:xfrm>
          <a:prstGeom prst="ellipse">
            <a:avLst/>
          </a:prstGeom>
          <a:solidFill>
            <a:srgbClr val="EEF0E4"/>
          </a:solidFill>
          <a:ln/>
        </p:spPr>
      </p:sp>
      <p:pic>
        <p:nvPicPr>
          <p:cNvPr id="19" name="Image 2" descr="/home/claude/deck/icon_check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081" y="3087929"/>
            <a:ext cx="362102" cy="3621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03520" y="3749040"/>
            <a:ext cx="1664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Evaluation Agent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5303520" y="4617720"/>
            <a:ext cx="1664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Scores &amp; analyzes answers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7296912" y="2331720"/>
            <a:ext cx="1993392" cy="32004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461504" y="24963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8D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7534656" y="3017520"/>
            <a:ext cx="502920" cy="502920"/>
          </a:xfrm>
          <a:prstGeom prst="ellipse">
            <a:avLst/>
          </a:prstGeom>
          <a:solidFill>
            <a:srgbClr val="EEF0E4"/>
          </a:solidFill>
          <a:ln/>
        </p:spPr>
      </p:sp>
      <p:pic>
        <p:nvPicPr>
          <p:cNvPr id="25" name="Image 3" descr="/home/claude/deck/icon_map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5065" y="3087929"/>
            <a:ext cx="362102" cy="36210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61504" y="3749040"/>
            <a:ext cx="1664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Roadmap Agent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7461504" y="4617720"/>
            <a:ext cx="1664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Converts gaps into a study plan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9454896" y="2331720"/>
            <a:ext cx="1993392" cy="32004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9619488" y="24963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8D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9692640" y="3017520"/>
            <a:ext cx="502920" cy="502920"/>
          </a:xfrm>
          <a:prstGeom prst="ellipse">
            <a:avLst/>
          </a:prstGeom>
          <a:solidFill>
            <a:srgbClr val="EEF0E4"/>
          </a:solidFill>
          <a:ln/>
        </p:spPr>
      </p:sp>
      <p:pic>
        <p:nvPicPr>
          <p:cNvPr id="31" name="Image 4" descr="/home/claude/deck/icon_search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3049" y="3087929"/>
            <a:ext cx="362102" cy="36210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19488" y="3749040"/>
            <a:ext cx="1664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Agent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9619488" y="4617720"/>
            <a:ext cx="1664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company/topic research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822960" y="5806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Agents coordinate through a structured workflow graph — not one monolithic prompt.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9C7DBA8-67BD-6108-9EEE-50EF8928BF7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817" y="170105"/>
            <a:ext cx="1190446" cy="447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B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DEEP DIVE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5F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Dynamic Questioning, powered by RAG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1D20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5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Documents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697480" y="2103120"/>
            <a:ext cx="256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6FF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53512" y="210312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1D2030"/>
          </a:solidFill>
          <a:ln/>
        </p:spPr>
      </p:sp>
      <p:sp>
        <p:nvSpPr>
          <p:cNvPr id="8" name="Text 6"/>
          <p:cNvSpPr/>
          <p:nvPr/>
        </p:nvSpPr>
        <p:spPr>
          <a:xfrm>
            <a:off x="2953512" y="21031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5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Chunking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28032" y="2103120"/>
            <a:ext cx="256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6FF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84064" y="210312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1D2030"/>
          </a:solidFill>
          <a:ln/>
        </p:spPr>
      </p:sp>
      <p:sp>
        <p:nvSpPr>
          <p:cNvPr id="11" name="Text 9"/>
          <p:cNvSpPr/>
          <p:nvPr/>
        </p:nvSpPr>
        <p:spPr>
          <a:xfrm>
            <a:off x="5084064" y="21031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5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Embeddings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958584" y="2103120"/>
            <a:ext cx="256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6FF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214616" y="210312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1D2030"/>
          </a:solidFill>
          <a:ln/>
        </p:spPr>
      </p:sp>
      <p:sp>
        <p:nvSpPr>
          <p:cNvPr id="14" name="Text 12"/>
          <p:cNvSpPr/>
          <p:nvPr/>
        </p:nvSpPr>
        <p:spPr>
          <a:xfrm>
            <a:off x="7214616" y="21031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5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Vector Store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089136" y="2103120"/>
            <a:ext cx="256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6FF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345168" y="2103120"/>
            <a:ext cx="1874520" cy="1005840"/>
          </a:xfrm>
          <a:prstGeom prst="roundRect">
            <a:avLst>
              <a:gd name="adj" fmla="val 9091"/>
            </a:avLst>
          </a:prstGeom>
          <a:solidFill>
            <a:srgbClr val="1D2030"/>
          </a:solidFill>
          <a:ln/>
        </p:spPr>
      </p:sp>
      <p:sp>
        <p:nvSpPr>
          <p:cNvPr id="17" name="Text 15"/>
          <p:cNvSpPr/>
          <p:nvPr/>
        </p:nvSpPr>
        <p:spPr>
          <a:xfrm>
            <a:off x="9345168" y="21031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5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Retrieval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33375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2C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Retrieved context — skills, past answers, domain knowledge — feeds the Question Generation Agent before every question.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2960" y="4114800"/>
            <a:ext cx="4663440" cy="1965960"/>
          </a:xfrm>
          <a:prstGeom prst="roundRect">
            <a:avLst>
              <a:gd name="adj" fmla="val 4651"/>
            </a:avLst>
          </a:prstGeom>
          <a:solidFill>
            <a:srgbClr val="1D203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1560" y="4370832"/>
            <a:ext cx="502920" cy="50292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21" name="Image 0" descr="/home/claude/deck/icon_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969" y="4441241"/>
            <a:ext cx="362102" cy="36210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51560" y="4983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Context-Tailored Questions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051560" y="53492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Generated using retrieved context plus the candidate's profile — not a generic prompt.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760720" y="4114800"/>
            <a:ext cx="4663440" cy="1965960"/>
          </a:xfrm>
          <a:prstGeom prst="roundRect">
            <a:avLst>
              <a:gd name="adj" fmla="val 4651"/>
            </a:avLst>
          </a:prstGeom>
          <a:solidFill>
            <a:srgbClr val="1D2030"/>
          </a:solidFill>
          <a:ln/>
        </p:spPr>
      </p:sp>
      <p:sp>
        <p:nvSpPr>
          <p:cNvPr id="25" name="Shape 22"/>
          <p:cNvSpPr/>
          <p:nvPr/>
        </p:nvSpPr>
        <p:spPr>
          <a:xfrm>
            <a:off x="5989320" y="4370832"/>
            <a:ext cx="502920" cy="50292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26" name="Image 1" descr="/home/claude/deck/icon_tren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9729" y="4441241"/>
            <a:ext cx="362102" cy="36210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989320" y="4983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Difficulty Scaling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5989320" y="53492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Escalates or eases based on the Evaluation Agent's live scoring of each answer.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07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0B20712-417B-92FF-1DAE-77367DA979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817" y="170105"/>
            <a:ext cx="1190446" cy="447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B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DEEP DIVE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From Resume to Roadmap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2331720" cy="24688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1348" y="2606040"/>
            <a:ext cx="694944" cy="694944"/>
          </a:xfrm>
          <a:prstGeom prst="ellipse">
            <a:avLst/>
          </a:prstGeom>
          <a:solidFill>
            <a:srgbClr val="EEF0E4"/>
          </a:solidFill>
          <a:ln/>
        </p:spPr>
      </p:sp>
      <p:pic>
        <p:nvPicPr>
          <p:cNvPr id="6" name="Image 0" descr="/home/claude/deck/icon_filetext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640" y="2703332"/>
            <a:ext cx="500360" cy="50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5204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Resume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60120" y="40233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PDF / DOCX parsed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154680" y="2286000"/>
            <a:ext cx="457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FBF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→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611880" y="2286000"/>
            <a:ext cx="2331720" cy="24688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30268" y="2606040"/>
            <a:ext cx="694944" cy="694944"/>
          </a:xfrm>
          <a:prstGeom prst="ellipse">
            <a:avLst/>
          </a:prstGeom>
          <a:solidFill>
            <a:srgbClr val="EEF0E4"/>
          </a:solidFill>
          <a:ln/>
        </p:spPr>
      </p:sp>
      <p:pic>
        <p:nvPicPr>
          <p:cNvPr id="12" name="Image 1" descr="/home/claude/deck/icon_target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560" y="2703332"/>
            <a:ext cx="500360" cy="500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35204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Candidate Profile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749040" y="40233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Skills, experience, projects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943600" y="2286000"/>
            <a:ext cx="457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FBF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→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400800" y="2286000"/>
            <a:ext cx="2331720" cy="24688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19188" y="2606040"/>
            <a:ext cx="694944" cy="694944"/>
          </a:xfrm>
          <a:prstGeom prst="ellipse">
            <a:avLst/>
          </a:prstGeom>
          <a:solidFill>
            <a:srgbClr val="EEF0E4"/>
          </a:solidFill>
          <a:ln/>
        </p:spPr>
      </p:sp>
      <p:pic>
        <p:nvPicPr>
          <p:cNvPr id="18" name="Image 2" descr="/home/claude/deck/icon_check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6480" y="2703332"/>
            <a:ext cx="500360" cy="500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37960" y="35204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Evaluation Metrics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537960" y="40233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Scored per answer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732520" y="2286000"/>
            <a:ext cx="457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FBF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→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9189720" y="2286000"/>
            <a:ext cx="2331720" cy="24688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08108" y="2606040"/>
            <a:ext cx="694944" cy="694944"/>
          </a:xfrm>
          <a:prstGeom prst="ellipse">
            <a:avLst/>
          </a:prstGeom>
          <a:solidFill>
            <a:srgbClr val="EEF0E4"/>
          </a:solidFill>
          <a:ln/>
        </p:spPr>
      </p:sp>
      <p:pic>
        <p:nvPicPr>
          <p:cNvPr id="24" name="Image 3" descr="/home/claude/deck/icon_map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5400" y="2703332"/>
            <a:ext cx="500360" cy="5003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26880" y="35204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Study Roadmap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9326880" y="40233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Prioritized weak topics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822960" y="5166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B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genuine feedback loop: practice → evaluate → learn → practice again.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08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FBF3F28-87C8-2FC1-431F-3C3E2EB56B8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817" y="170105"/>
            <a:ext cx="1190446" cy="447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B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ROADMAP AHEAD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5F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Future Enhancements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390578" y="2194560"/>
            <a:ext cx="2542032" cy="3017520"/>
          </a:xfrm>
          <a:prstGeom prst="roundRect">
            <a:avLst>
              <a:gd name="adj" fmla="val 4317"/>
            </a:avLst>
          </a:prstGeom>
          <a:solidFill>
            <a:srgbClr val="1D2030"/>
          </a:solidFill>
          <a:ln/>
        </p:spPr>
      </p:sp>
      <p:sp>
        <p:nvSpPr>
          <p:cNvPr id="5" name="Shape 3"/>
          <p:cNvSpPr/>
          <p:nvPr/>
        </p:nvSpPr>
        <p:spPr>
          <a:xfrm>
            <a:off x="1683186" y="2487168"/>
            <a:ext cx="566928" cy="566928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6" name="Image 0" descr="/home/claude/deck/icon_messa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556" y="2566538"/>
            <a:ext cx="408188" cy="4081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19178" y="324612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5F5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RAG Chatbot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619178" y="3794760"/>
            <a:ext cx="20848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0B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Interactive doubt-solving grounded in retrieved context.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809744" y="2194560"/>
            <a:ext cx="2542032" cy="3017520"/>
          </a:xfrm>
          <a:prstGeom prst="roundRect">
            <a:avLst>
              <a:gd name="adj" fmla="val 4317"/>
            </a:avLst>
          </a:prstGeom>
          <a:solidFill>
            <a:srgbClr val="1D2030"/>
          </a:solidFill>
          <a:ln/>
        </p:spPr>
      </p:sp>
      <p:sp>
        <p:nvSpPr>
          <p:cNvPr id="10" name="Shape 7"/>
          <p:cNvSpPr/>
          <p:nvPr/>
        </p:nvSpPr>
        <p:spPr>
          <a:xfrm>
            <a:off x="5102352" y="2487168"/>
            <a:ext cx="566928" cy="566928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11" name="Image 1" descr="/home/claude/deck/icon_camera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722" y="2566538"/>
            <a:ext cx="408188" cy="4081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38344" y="324612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5F5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OCR Image Processing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038344" y="3794760"/>
            <a:ext cx="20848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0B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Handwritten notes, diagrams, and whiteboard problems.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228910" y="2194560"/>
            <a:ext cx="2542032" cy="3017520"/>
          </a:xfrm>
          <a:prstGeom prst="roundRect">
            <a:avLst>
              <a:gd name="adj" fmla="val 4317"/>
            </a:avLst>
          </a:prstGeom>
          <a:solidFill>
            <a:srgbClr val="1D2030"/>
          </a:solidFill>
          <a:ln/>
        </p:spPr>
      </p:sp>
      <p:sp>
        <p:nvSpPr>
          <p:cNvPr id="15" name="Shape 11"/>
          <p:cNvSpPr/>
          <p:nvPr/>
        </p:nvSpPr>
        <p:spPr>
          <a:xfrm>
            <a:off x="8521518" y="2487168"/>
            <a:ext cx="566928" cy="566928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16" name="Image 2" descr="/home/claude/deck/icon_mic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0888" y="2566538"/>
            <a:ext cx="408188" cy="4081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7510" y="324612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5F5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Voice-Based Interviews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457510" y="3794760"/>
            <a:ext cx="20848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0B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Spoken mock interviews for a realistic simulation.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25E629A-281A-36C8-B73D-83068DD43F7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817" y="170105"/>
            <a:ext cx="1190446" cy="447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B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D2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From generic prep to genuine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D2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personalization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404872"/>
            <a:ext cx="128016" cy="128016"/>
          </a:xfrm>
          <a:prstGeom prst="ellipse">
            <a:avLst/>
          </a:prstGeom>
          <a:solidFill>
            <a:srgbClr val="8FBF00"/>
          </a:solidFill>
          <a:ln/>
        </p:spPr>
      </p:sp>
      <p:sp>
        <p:nvSpPr>
          <p:cNvPr id="5" name="Text 3"/>
          <p:cNvSpPr/>
          <p:nvPr/>
        </p:nvSpPr>
        <p:spPr>
          <a:xfrm>
            <a:off x="1092708" y="2191023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Applies agentic AI and RAG to a real, tangible problem in interview preparation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3182112"/>
            <a:ext cx="128016" cy="128016"/>
          </a:xfrm>
          <a:prstGeom prst="ellipse">
            <a:avLst/>
          </a:prstGeom>
          <a:solidFill>
            <a:srgbClr val="8FBF00"/>
          </a:solidFill>
          <a:ln/>
        </p:spPr>
      </p:sp>
      <p:sp>
        <p:nvSpPr>
          <p:cNvPr id="7" name="Text 5"/>
          <p:cNvSpPr/>
          <p:nvPr/>
        </p:nvSpPr>
        <p:spPr>
          <a:xfrm>
            <a:off x="1092708" y="297827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Modular, multi-agent architecture built for extensibility and future growth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3959352"/>
            <a:ext cx="128016" cy="128016"/>
          </a:xfrm>
          <a:prstGeom prst="ellipse">
            <a:avLst/>
          </a:prstGeom>
          <a:solidFill>
            <a:srgbClr val="8FBF00"/>
          </a:solidFill>
          <a:ln/>
        </p:spPr>
      </p:sp>
      <p:sp>
        <p:nvSpPr>
          <p:cNvPr id="9" name="Text 7"/>
          <p:cNvSpPr/>
          <p:nvPr/>
        </p:nvSpPr>
        <p:spPr>
          <a:xfrm>
            <a:off x="1092708" y="376206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Uses patterns — orchestration, retrieval pipelines — seen in production AI systems today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4736592"/>
            <a:ext cx="128016" cy="128016"/>
          </a:xfrm>
          <a:prstGeom prst="ellipse">
            <a:avLst/>
          </a:prstGeom>
          <a:solidFill>
            <a:srgbClr val="8FBF00"/>
          </a:solidFill>
          <a:ln/>
        </p:spPr>
      </p:sp>
      <p:sp>
        <p:nvSpPr>
          <p:cNvPr id="11" name="Text 9"/>
          <p:cNvSpPr/>
          <p:nvPr/>
        </p:nvSpPr>
        <p:spPr>
          <a:xfrm>
            <a:off x="1092708" y="4526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Directly closes a gap left open by existing ed-tech and interview-prep tools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281160" y="2331720"/>
            <a:ext cx="2057400" cy="2834640"/>
          </a:xfrm>
          <a:prstGeom prst="roundRect">
            <a:avLst>
              <a:gd name="adj" fmla="val 4444"/>
            </a:avLst>
          </a:prstGeom>
          <a:solidFill>
            <a:srgbClr val="1A1D29"/>
          </a:solidFill>
          <a:ln/>
        </p:spPr>
      </p:sp>
      <p:sp>
        <p:nvSpPr>
          <p:cNvPr id="13" name="Shape 11"/>
          <p:cNvSpPr/>
          <p:nvPr/>
        </p:nvSpPr>
        <p:spPr>
          <a:xfrm>
            <a:off x="9989820" y="2651760"/>
            <a:ext cx="640080" cy="640080"/>
          </a:xfrm>
          <a:prstGeom prst="ellipse">
            <a:avLst/>
          </a:prstGeom>
          <a:solidFill>
            <a:srgbClr val="2A2E3F"/>
          </a:solidFill>
          <a:ln/>
        </p:spPr>
      </p:sp>
      <p:pic>
        <p:nvPicPr>
          <p:cNvPr id="14" name="Image 0" descr="/home/claude/deck/icon_z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9431" y="2741371"/>
            <a:ext cx="460858" cy="46085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464040" y="34290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6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418320" y="38404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D6D6D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Personalized prep,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D6D6D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 scale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A105164-314D-A5AF-8E73-6FE84E8030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817" y="170105"/>
            <a:ext cx="1190446" cy="447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330E7-BD69-BAEC-17C1-90ED1C88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71A1860-5137-3D7B-3778-31568E600BD3}"/>
              </a:ext>
            </a:extLst>
          </p:cNvPr>
          <p:cNvSpPr/>
          <p:nvPr/>
        </p:nvSpPr>
        <p:spPr>
          <a:xfrm>
            <a:off x="777240" y="82296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D2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References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EB30199-E599-F9D9-2853-41AD02B257DA}"/>
              </a:ext>
            </a:extLst>
          </p:cNvPr>
          <p:cNvSpPr/>
          <p:nvPr/>
        </p:nvSpPr>
        <p:spPr>
          <a:xfrm>
            <a:off x="822960" y="1977433"/>
            <a:ext cx="128016" cy="128016"/>
          </a:xfrm>
          <a:prstGeom prst="ellipse">
            <a:avLst/>
          </a:prstGeom>
          <a:solidFill>
            <a:srgbClr val="8FBF00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DF78334-1BDC-A178-FA84-7AA61BF98CCF}"/>
              </a:ext>
            </a:extLst>
          </p:cNvPr>
          <p:cNvSpPr/>
          <p:nvPr/>
        </p:nvSpPr>
        <p:spPr>
          <a:xfrm>
            <a:off x="1092708" y="176358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900"/>
              </a:lnSpc>
            </a:pPr>
            <a:r>
              <a:rPr lang="en-US" sz="1500" dirty="0">
                <a:solidFill>
                  <a:srgbClr val="1A1D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https://mockif.com/best-ai-mock-interview-platforms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06CAAFF-2402-50CC-890C-FAA25CF817AA}"/>
              </a:ext>
            </a:extLst>
          </p:cNvPr>
          <p:cNvSpPr/>
          <p:nvPr/>
        </p:nvSpPr>
        <p:spPr>
          <a:xfrm>
            <a:off x="822960" y="3182112"/>
            <a:ext cx="128016" cy="128016"/>
          </a:xfrm>
          <a:prstGeom prst="ellipse">
            <a:avLst/>
          </a:prstGeom>
          <a:solidFill>
            <a:srgbClr val="8FBF00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F7B3A0-279F-C198-ED4B-76DFD560C9F7}"/>
              </a:ext>
            </a:extLst>
          </p:cNvPr>
          <p:cNvSpPr/>
          <p:nvPr/>
        </p:nvSpPr>
        <p:spPr>
          <a:xfrm>
            <a:off x="1092707" y="2978270"/>
            <a:ext cx="1068234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Journal of Emerging Technologies and Innovative Research (JETIR)Journal of Emerging Technologies and Innovative Research (JETIR) – </a:t>
            </a:r>
            <a:r>
              <a:rPr lang="en-US" sz="1600" dirty="0">
                <a:hlinkClick r:id="rId3"/>
              </a:rPr>
              <a:t>https://www.jetir.org/papers/JETIRHQ06113.pdf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D4E6821-4286-B78A-17FE-45A9107966D7}"/>
              </a:ext>
            </a:extLst>
          </p:cNvPr>
          <p:cNvSpPr/>
          <p:nvPr/>
        </p:nvSpPr>
        <p:spPr>
          <a:xfrm>
            <a:off x="822959" y="3807657"/>
            <a:ext cx="128016" cy="128016"/>
          </a:xfrm>
          <a:prstGeom prst="ellipse">
            <a:avLst/>
          </a:prstGeom>
          <a:solidFill>
            <a:srgbClr val="8FBF00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9B40955-7A5C-87E6-FC49-7CFDFD5A80C1}"/>
              </a:ext>
            </a:extLst>
          </p:cNvPr>
          <p:cNvSpPr/>
          <p:nvPr/>
        </p:nvSpPr>
        <p:spPr>
          <a:xfrm>
            <a:off x="1092707" y="3695945"/>
            <a:ext cx="109316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/>
              <a:t>International Journal of Engineering Research &amp; Technology (IJERT) - </a:t>
            </a:r>
            <a:r>
              <a:rPr lang="en-US" sz="1600" i="1" dirty="0">
                <a:hlinkClick r:id="rId4"/>
              </a:rPr>
              <a:t>https://www.ijert.org/intelligent-interview-preparation-and-resume-screening-platform-using-machine-learning-for-student-career-advancement-ijertv15is020096</a:t>
            </a:r>
            <a:endParaRPr lang="en-US" sz="1600" i="1" dirty="0"/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7A705B2-0EB5-C5A9-9256-C42673FBD4F5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B4AC2E98-F738-2516-5BA8-AC1DAEF8C77E}"/>
              </a:ext>
            </a:extLst>
          </p:cNvPr>
          <p:cNvSpPr/>
          <p:nvPr/>
        </p:nvSpPr>
        <p:spPr>
          <a:xfrm>
            <a:off x="822960" y="2470562"/>
            <a:ext cx="128016" cy="128016"/>
          </a:xfrm>
          <a:prstGeom prst="ellipse">
            <a:avLst/>
          </a:prstGeom>
          <a:solidFill>
            <a:srgbClr val="8FBF00"/>
          </a:solidFill>
          <a:ln/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AA4E2589-1E7A-ED63-FDBB-64E7A693625B}"/>
              </a:ext>
            </a:extLst>
          </p:cNvPr>
          <p:cNvSpPr/>
          <p:nvPr/>
        </p:nvSpPr>
        <p:spPr>
          <a:xfrm>
            <a:off x="1092708" y="226025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 like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Leetcode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HackerRank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/>
              <a:t>Interviewing.io, </a:t>
            </a:r>
            <a:r>
              <a:rPr lang="en-US" sz="1600" dirty="0" err="1"/>
              <a:t>Pramp</a:t>
            </a:r>
            <a:r>
              <a:rPr lang="en-US" sz="1600" dirty="0"/>
              <a:t>, </a:t>
            </a:r>
            <a:r>
              <a:rPr lang="en-US" sz="1600" dirty="0" err="1"/>
              <a:t>etc</a:t>
            </a:r>
            <a:r>
              <a:rPr lang="en-US" sz="1600" dirty="0"/>
              <a:t> - </a:t>
            </a:r>
            <a:r>
              <a:rPr lang="en-US" sz="1600" dirty="0">
                <a:hlinkClick r:id="rId5"/>
              </a:rPr>
              <a:t>https://leetcode.com</a:t>
            </a:r>
            <a:r>
              <a:rPr lang="en-US" sz="1600" dirty="0"/>
              <a:t> </a:t>
            </a:r>
            <a:r>
              <a:rPr lang="en-US" sz="1600" dirty="0">
                <a:hlinkClick r:id="rId6"/>
              </a:rPr>
              <a:t>https://www.hackerrank.com</a:t>
            </a:r>
            <a:r>
              <a:rPr lang="en-US" sz="1600" dirty="0"/>
              <a:t>, </a:t>
            </a:r>
            <a:r>
              <a:rPr lang="en-US" sz="1600" dirty="0">
                <a:hlinkClick r:id="rId7"/>
              </a:rPr>
              <a:t>https://interviewing.io</a:t>
            </a:r>
            <a:r>
              <a:rPr lang="en-US" sz="1600" dirty="0"/>
              <a:t>, </a:t>
            </a:r>
            <a:r>
              <a:rPr lang="en-US" sz="1600" dirty="0">
                <a:hlinkClick r:id="rId8"/>
              </a:rPr>
              <a:t>https://www.pramp.com</a:t>
            </a:r>
            <a:r>
              <a:rPr lang="en-US" sz="1600" dirty="0"/>
              <a:t>, 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4C8F33-BE1C-CF37-D40E-5C22B844ECC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3144" y="109728"/>
            <a:ext cx="1311215" cy="49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227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719</Words>
  <Application>Microsoft Office PowerPoint</Application>
  <PresentationFormat>Widescreen</PresentationFormat>
  <Paragraphs>154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NEXORA – AI POWERED MOCK INTERVIEW PLATFORM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Nimit Gupta</cp:lastModifiedBy>
  <cp:revision>7</cp:revision>
  <dcterms:created xsi:type="dcterms:W3CDTF">2026-09-25T10:31:10Z</dcterms:created>
  <dcterms:modified xsi:type="dcterms:W3CDTF">2026-09-26T11:06:42Z</dcterms:modified>
</cp:coreProperties>
</file>